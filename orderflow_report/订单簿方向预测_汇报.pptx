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554"/>
                </a:solidFill>
                <a:latin typeface="PingFang SC"/>
              </a:defRPr>
            </a:pPr>
            <a:r>
              <a:rPr sz="1200" b="0" i="0" u="none" strike="noStrike">
                <a:solidFill>
                  <a:srgbClr val="172554"/>
                </a:solidFill>
                <a:latin typeface="PingFang SC"/>
              </a:rPr>
              <a:t>Macro-F1：深度模型 vs Logistic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深度模型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E007</c:v>
                  </c:pt>
                  <c:pt idx="1">
                    <c:v>E011</c:v>
                  </c:pt>
                  <c:pt idx="2">
                    <c:v>E013</c:v>
                  </c:pt>
                  <c:pt idx="3">
                    <c:v>E014</c:v>
                  </c:pt>
                  <c:pt idx="4">
                    <c:v>E017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0.431</c:v>
                </c:pt>
                <c:pt idx="1">
                  <c:v>0.42</c:v>
                </c:pt>
                <c:pt idx="2">
                  <c:v>0.439</c:v>
                </c:pt>
                <c:pt idx="3">
                  <c:v>0.446</c:v>
                </c:pt>
                <c:pt idx="4">
                  <c:v>0.357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E007</c:v>
                  </c:pt>
                  <c:pt idx="1">
                    <c:v>E011</c:v>
                  </c:pt>
                  <c:pt idx="2">
                    <c:v>E013</c:v>
                  </c:pt>
                  <c:pt idx="3">
                    <c:v>E014</c:v>
                  </c:pt>
                  <c:pt idx="4">
                    <c:v>E017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0.449</c:v>
                </c:pt>
                <c:pt idx="1">
                  <c:v>0.408</c:v>
                </c:pt>
                <c:pt idx="2">
                  <c:v>0.413</c:v>
                </c:pt>
                <c:pt idx="3">
                  <c:v>0.413</c:v>
                </c:pt>
                <c:pt idx="4">
                  <c:v>0.303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A1330">
              <a:alpha val="8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3700" b="1" spc="25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订单簿驱动的</a:t>
            </a:r>
            <a:endParaRPr lang="en-US" sz="3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700" b="1" spc="25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短期价格方向预测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58368" y="3035808"/>
            <a:ext cx="566928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6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基于深度学习的加密货币微观结构研究汇报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AA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Binance BTC / ETH　|　30 秒事件级数据　|　2026.10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7255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目录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CONTENTS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5840" y="1417320"/>
            <a:ext cx="33832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61872" y="141732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22D3E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29968" y="161848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2212848" y="1417320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研究任务与标签口径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3832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10912" y="141732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22D3E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779008" y="161848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5961888" y="1417320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数据与 49 维特征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2514600"/>
            <a:ext cx="33832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61872" y="251460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22D3E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029968" y="271576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2212848" y="2514600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实验演进脉络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2514600"/>
            <a:ext cx="33832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10912" y="251460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22D3E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779008" y="271576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961888" y="2514600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核心模型架构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05840" y="3611880"/>
            <a:ext cx="33832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61872" y="361188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22D3E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2029968" y="381304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2212848" y="3611880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关键结果与可交易性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33832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10912" y="361188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22D3E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5779008" y="381304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5961888" y="3611880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结论与下一步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03920" y="4736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7255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研究任务与标签口径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预测未来 5 分钟价格方向，并严格防止信息泄漏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8006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572768"/>
            <a:ext cx="82296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1790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数据频率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029968" y="15179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 30 秒一帧，按交易对各自按时间切分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" y="2148840"/>
            <a:ext cx="82296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预测目标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029968" y="20939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 5 分钟（10 行）均价相对当前价的收益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4944" y="2724912"/>
            <a:ext cx="82296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7004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三类标签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029968" y="26700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按训练段 70 分位阈值切为 跌 / 中性 / 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4944" y="3300984"/>
            <a:ext cx="82296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切分规则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029968" y="3246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 70%，外推 30% 再等分 dev / test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4944" y="3877056"/>
            <a:ext cx="82296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82219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防泄漏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029968" y="38221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训练尾部按 horizon 剔除；标准化只用训练段</a:t>
            </a:r>
            <a:endParaRPr lang="en-US" sz="1150" dirty="0"/>
          </a:p>
        </p:txBody>
      </p:sp>
      <p:pic>
        <p:nvPicPr>
          <p:cNvPr id="20" name="Image 0" descr="/Users/bytedance/Downloads/order book/orderflow_report/images/image-task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627632"/>
            <a:ext cx="3200400" cy="24048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方向分类（Macro-F1）为主，辅以 AUC、IC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03920" y="4736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7255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数据与 49 维特征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全部为事件级特征，严格因果，可逐维解释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609344"/>
            <a:ext cx="658368" cy="658368"/>
          </a:xfrm>
          <a:prstGeom prst="ellipse">
            <a:avLst/>
          </a:prstGeom>
          <a:solidFill>
            <a:srgbClr val="ECFEF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9344"/>
            <a:ext cx="768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24 维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4944" y="2395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深度对数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" y="2761488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档（±0.2/1/2/3/4/5%）的买/卖深度与名义价值，取 log1p，共 4×6 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83864" y="1609344"/>
            <a:ext cx="658368" cy="658368"/>
          </a:xfrm>
          <a:prstGeom prst="ellipse">
            <a:avLst/>
          </a:prstGeom>
          <a:solidFill>
            <a:srgbClr val="ECFEF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609344"/>
            <a:ext cx="768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12 维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83864" y="2395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不平衡与变化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83864" y="2761488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depth_imbalance 衡量买卖力量对比，depth_change 衡量逐档深度的环比变化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1609344"/>
            <a:ext cx="658368" cy="658368"/>
          </a:xfrm>
          <a:prstGeom prst="ellipse">
            <a:avLst/>
          </a:prstGeom>
          <a:solidFill>
            <a:srgbClr val="ECFEF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09344"/>
            <a:ext cx="768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13 维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72784" y="2395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交易与流量尾部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72784" y="2761488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成交不平衡、VWAP 收益、OFI、成交量 z-score、return_1 等短期压力信号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13632"/>
            <a:ext cx="8229600" cy="603504"/>
          </a:xfrm>
          <a:prstGeom prst="roundRect">
            <a:avLst>
              <a:gd name="adj" fmla="val 13636"/>
            </a:avLst>
          </a:prstGeom>
          <a:solidFill>
            <a:srgbClr val="ECFE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" y="3913632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合计 24 + 12 + 13 = 49 维。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另有 15 个 regime 状态变量不纳入方向输入；此处 mid_price 取每桶最后一笔成交价。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03920" y="4736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7255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实验演进脉络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从数据踩坑到首次超越，再到逐档 L2 严格检验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72768" cy="274320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1572768" cy="10972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6367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216712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E001–E004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24414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数据踩坑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2807208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实时短数据 + 错误切分，出现满分假象；确立按币种时间切分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121408" y="1417320"/>
            <a:ext cx="1572768" cy="274320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21408" y="1417320"/>
            <a:ext cx="1572768" cy="10972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6367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86000" y="216712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E005–E006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0" y="24414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选对方向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0" y="2807208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Coinbase 整周数据欠拟合，但受控对比确认短期事件级路线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785616" y="1417320"/>
            <a:ext cx="1572768" cy="274320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85616" y="1417320"/>
            <a:ext cx="1572768" cy="10972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3950208" y="16367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950208" y="216712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E007–E010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50208" y="24414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公平较量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950208" y="2807208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 9 月数据，深度模型屡败；识破混合模型的 ensemble 假象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449824" y="1417320"/>
            <a:ext cx="1572768" cy="274320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49824" y="1417320"/>
            <a:ext cx="157276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5614416" y="16367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14416" y="216712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E011/13/14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14416" y="24414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首次超越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614416" y="2807208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样本翻倍，空洞卷积单模型胜出，E014 达到最强 0.446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7114032" y="1417320"/>
            <a:ext cx="1572768" cy="274320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14032" y="1417320"/>
            <a:ext cx="1572768" cy="10972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0" name="Text 28"/>
          <p:cNvSpPr/>
          <p:nvPr/>
        </p:nvSpPr>
        <p:spPr>
          <a:xfrm>
            <a:off x="7278624" y="16367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78624" y="216712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E016–E018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78624" y="24414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L2 检验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78624" y="2807208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逐笔账本重建质检通过；领先不显著，桶→L2 为负迁移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8503920" y="4736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7255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核心模型架构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空洞因果卷积为最有效的归纳偏置，叠加时间与特征轴注意力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4068" y="1554480"/>
            <a:ext cx="1243584" cy="9144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4068" y="1554480"/>
            <a:ext cx="124358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 维输入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787652" y="2011680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06524" y="1554480"/>
            <a:ext cx="1243584" cy="9144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06524" y="1554480"/>
            <a:ext cx="124358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空洞因果卷积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0108" y="2011680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68980" y="1554480"/>
            <a:ext cx="1243584" cy="91440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/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8980" y="1554480"/>
            <a:ext cx="124358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时间注意力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12564" y="2011680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31436" y="1554480"/>
            <a:ext cx="1243584" cy="91440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/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31436" y="1554480"/>
            <a:ext cx="124358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注意力池化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75020" y="2011680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93892" y="1554480"/>
            <a:ext cx="1243584" cy="91440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/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93892" y="1554480"/>
            <a:ext cx="124358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特征轴注意力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37476" y="2011680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56348" y="1554480"/>
            <a:ext cx="1243584" cy="9144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56348" y="1554480"/>
            <a:ext cx="124358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三分类输出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154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慢变量的角色：择时，不定向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" y="3520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方向路仅使用 49 个短期特征，慢变量与 FiLM 均不进入分类头（E013 硬拼反而变差）。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中长慢信号只在独立的置信过滤器中决定“要不要出手”，无把握时空仓。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03920" y="4736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365760" y="1280160"/>
          <a:ext cx="50749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7255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关键实验结果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深度模型出现胜出苗头，但优势尚未达到统计显著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623560" y="1280160"/>
            <a:ext cx="3063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43016" y="14081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最强成绩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43016" y="170078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E014 达 0.446，领先 Logistic 0.033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23560" y="2395728"/>
            <a:ext cx="3063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43016" y="2523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尚不显著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43016" y="28163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L2 上配对 bootstrap 的 95% CI 跨过 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23560" y="3511296"/>
            <a:ext cx="3063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43016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成本后无利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43016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单边约 0.07% 成本，潜向量直交易为负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503920" y="4736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7255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潜向量 zₜ 与可交易性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潜向量含方向信号，但不足以覆盖交易成本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72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潜向量特征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128 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3957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encoder 输出潜向量，已随结果保存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2816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AUC 0.673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3200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单划分线性探针可提取方向信号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36210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ARI 0.075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40050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聚类不按方向自然分簇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19472" y="1572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5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模拟交易结果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9472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净收益为负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19472" y="23957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IC ≈ −0.02，命中率约 50%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9472" y="28163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单边 0.07%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19472" y="3200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手续费 + 滑点侵蚀微弱优势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9472" y="36210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过滤后改善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19472" y="40050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 28% 时段出手，AUC 升至 0.588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03920" y="4736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7255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百分比桶 vs 逐笔 L2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现在用桶交付，长期 alpha 押注 L2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4023360" cy="12801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百分比桶 — 当前主力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084832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现成免费，52 天 BTC+ETH 轻松获取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样本约 30 万，多实验反复验证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最强 0.446，当前分数最好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风险：alpha 天花板可能有限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371600"/>
            <a:ext cx="4023360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逐笔 L2 — 未来押注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9472" y="2084832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逐档反转信号约 −0.57，强十几倍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保留真实价量，信息未被抹平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短板：3.4GB/周，当前样本太少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桶→L2 已验证为负迁移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8000"/>
            </a:avLst>
          </a:prstGeom>
          <a:solidFill>
            <a:srgbClr val="ECFE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B2A4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裁决标准：4 个分散周、约 2,300 OOS 上的移动块配对 bootstrap，95% CI 下界 &gt; 0 即切换主力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503920" y="4736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685800"/>
            <a:ext cx="7132320" cy="3749040"/>
          </a:xfrm>
          <a:prstGeom prst="rect">
            <a:avLst/>
          </a:prstGeom>
          <a:solidFill>
            <a:srgbClr val="0A1330">
              <a:alpha val="70000"/>
            </a:srgbClr>
          </a:solidFill>
          <a:ln w="9525">
            <a:solidFill>
              <a:srgbClr val="1D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9601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方向对、管道通、值得继续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162763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2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但尚不能宣称已稳健胜出，更不能直接用于盈利交易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224028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扩充数据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834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9C2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抽取 4 个分散周的逐笔 L2，覆盖更多市场状态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84448" y="224028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358444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33088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严格验证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84448" y="2834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9C2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多种子重复 + 移动块配对 bootstrap，看 95% CI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88736" y="224028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588873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37376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成本回测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88736" y="2834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9C2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把手续费滑点计入，检验成本后是否净盈利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3886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spc="100" kern="0" dirty="0">
                <a:solidFill>
                  <a:srgbClr val="22D3E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谢谢聆听 · 欢迎指正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订单簿驱动的短期价格方向预测</dc:title>
  <dc:subject>PptxGenJS Presentation</dc:subject>
  <dc:creator>Order Flow Research</dc:creator>
  <cp:lastModifiedBy>Order Flow Research</cp:lastModifiedBy>
  <cp:revision>1</cp:revision>
  <dcterms:created xsi:type="dcterms:W3CDTF">2026-10-08T10:27:58Z</dcterms:created>
  <dcterms:modified xsi:type="dcterms:W3CDTF">2026-10-08T10:27:58Z</dcterms:modified>
</cp:coreProperties>
</file>